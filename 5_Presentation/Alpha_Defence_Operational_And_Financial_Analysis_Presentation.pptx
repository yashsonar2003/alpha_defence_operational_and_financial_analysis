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12192000"/>
  <p:notesSz cx="6858000" cy="9144000"/>
  <p:embeddedFontLst>
    <p:embeddedFont>
      <p:font typeface="Inter SemiBold"/>
      <p:regular r:id="rId20"/>
      <p:bold r:id="rId21"/>
      <p:italic r:id="rId22"/>
      <p:boldItalic r:id="rId23"/>
    </p:embeddedFont>
    <p:embeddedFont>
      <p:font typeface="Poppins"/>
      <p:regular r:id="rId24"/>
      <p:bold r:id="rId25"/>
      <p:italic r:id="rId26"/>
      <p:boldItalic r:id="rId27"/>
    </p:embeddedFont>
    <p:embeddedFont>
      <p:font typeface="Inter"/>
      <p:regular r:id="rId28"/>
      <p:bold r:id="rId29"/>
      <p:italic r:id="rId30"/>
      <p:boldItalic r:id="rId31"/>
    </p:embeddedFont>
    <p:embeddedFont>
      <p:font typeface="Poppins SemiBold"/>
      <p:regular r:id="rId32"/>
      <p:bold r:id="rId33"/>
      <p:italic r:id="rId34"/>
      <p:boldItalic r:id="rId35"/>
    </p:embeddedFont>
    <p:embeddedFont>
      <p:font typeface="Inter Medium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FA36752-12F2-40DC-B54D-BED91D88F106}">
  <a:tblStyle styleId="{9FA36752-12F2-40DC-B54D-BED91D88F106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SemiBold-regular.fntdata"/><Relationship Id="rId22" Type="http://schemas.openxmlformats.org/officeDocument/2006/relationships/font" Target="fonts/InterSemiBold-italic.fntdata"/><Relationship Id="rId21" Type="http://schemas.openxmlformats.org/officeDocument/2006/relationships/font" Target="fonts/InterSemiBold-bold.fntdata"/><Relationship Id="rId24" Type="http://schemas.openxmlformats.org/officeDocument/2006/relationships/font" Target="fonts/Poppins-regular.fntdata"/><Relationship Id="rId23" Type="http://schemas.openxmlformats.org/officeDocument/2006/relationships/font" Target="fonts/InterSemiBold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Poppins-italic.fntdata"/><Relationship Id="rId25" Type="http://schemas.openxmlformats.org/officeDocument/2006/relationships/font" Target="fonts/Poppins-bold.fntdata"/><Relationship Id="rId28" Type="http://schemas.openxmlformats.org/officeDocument/2006/relationships/font" Target="fonts/Inter-regular.fntdata"/><Relationship Id="rId27" Type="http://schemas.openxmlformats.org/officeDocument/2006/relationships/font" Target="fonts/Poppins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Inter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Inter-boldItalic.fntdata"/><Relationship Id="rId30" Type="http://schemas.openxmlformats.org/officeDocument/2006/relationships/font" Target="fonts/Inter-italic.fntdata"/><Relationship Id="rId11" Type="http://schemas.openxmlformats.org/officeDocument/2006/relationships/slide" Target="slides/slide5.xml"/><Relationship Id="rId33" Type="http://schemas.openxmlformats.org/officeDocument/2006/relationships/font" Target="fonts/PoppinsSemiBold-bold.fntdata"/><Relationship Id="rId10" Type="http://schemas.openxmlformats.org/officeDocument/2006/relationships/slide" Target="slides/slide4.xml"/><Relationship Id="rId32" Type="http://schemas.openxmlformats.org/officeDocument/2006/relationships/font" Target="fonts/PoppinsSemiBold-regular.fntdata"/><Relationship Id="rId13" Type="http://schemas.openxmlformats.org/officeDocument/2006/relationships/slide" Target="slides/slide7.xml"/><Relationship Id="rId35" Type="http://schemas.openxmlformats.org/officeDocument/2006/relationships/font" Target="fonts/PoppinsSemiBold-boldItalic.fntdata"/><Relationship Id="rId12" Type="http://schemas.openxmlformats.org/officeDocument/2006/relationships/slide" Target="slides/slide6.xml"/><Relationship Id="rId34" Type="http://schemas.openxmlformats.org/officeDocument/2006/relationships/font" Target="fonts/PoppinsSemiBold-italic.fntdata"/><Relationship Id="rId15" Type="http://schemas.openxmlformats.org/officeDocument/2006/relationships/slide" Target="slides/slide9.xml"/><Relationship Id="rId37" Type="http://schemas.openxmlformats.org/officeDocument/2006/relationships/font" Target="fonts/InterMedium-bold.fntdata"/><Relationship Id="rId14" Type="http://schemas.openxmlformats.org/officeDocument/2006/relationships/slide" Target="slides/slide8.xml"/><Relationship Id="rId36" Type="http://schemas.openxmlformats.org/officeDocument/2006/relationships/font" Target="fonts/InterMedium-regular.fntdata"/><Relationship Id="rId17" Type="http://schemas.openxmlformats.org/officeDocument/2006/relationships/slide" Target="slides/slide11.xml"/><Relationship Id="rId39" Type="http://schemas.openxmlformats.org/officeDocument/2006/relationships/font" Target="fonts/InterMedium-boldItalic.fntdata"/><Relationship Id="rId16" Type="http://schemas.openxmlformats.org/officeDocument/2006/relationships/slide" Target="slides/slide10.xml"/><Relationship Id="rId38" Type="http://schemas.openxmlformats.org/officeDocument/2006/relationships/font" Target="fonts/InterMedium-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409db06a0be_1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g409db06a0be_1_4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409db06a0be_1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g409db06a0be_1_6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409db06a0be_1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g409db06a0be_1_8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409db06a0be_1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g409db06a0be_1_10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9.png"/><Relationship Id="rId6" Type="http://schemas.openxmlformats.org/officeDocument/2006/relationships/image" Target="../media/image11.png"/><Relationship Id="rId7" Type="http://schemas.openxmlformats.org/officeDocument/2006/relationships/image" Target="../media/image8.png"/><Relationship Id="rId8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18.png"/><Relationship Id="rId6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1" Type="http://schemas.openxmlformats.org/officeDocument/2006/relationships/image" Target="../media/image19.png"/><Relationship Id="rId10" Type="http://schemas.openxmlformats.org/officeDocument/2006/relationships/image" Target="../media/image20.png"/><Relationship Id="rId13" Type="http://schemas.openxmlformats.org/officeDocument/2006/relationships/image" Target="../media/image23.png"/><Relationship Id="rId1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15.png"/><Relationship Id="rId9" Type="http://schemas.openxmlformats.org/officeDocument/2006/relationships/image" Target="../media/image21.png"/><Relationship Id="rId15" Type="http://schemas.openxmlformats.org/officeDocument/2006/relationships/image" Target="../media/image25.png"/><Relationship Id="rId14" Type="http://schemas.openxmlformats.org/officeDocument/2006/relationships/image" Target="../media/image24.png"/><Relationship Id="rId17" Type="http://schemas.openxmlformats.org/officeDocument/2006/relationships/image" Target="../media/image29.png"/><Relationship Id="rId16" Type="http://schemas.openxmlformats.org/officeDocument/2006/relationships/image" Target="../media/image26.png"/><Relationship Id="rId5" Type="http://schemas.openxmlformats.org/officeDocument/2006/relationships/image" Target="../media/image17.png"/><Relationship Id="rId6" Type="http://schemas.openxmlformats.org/officeDocument/2006/relationships/image" Target="../media/image14.png"/><Relationship Id="rId7" Type="http://schemas.openxmlformats.org/officeDocument/2006/relationships/image" Target="../media/image16.png"/><Relationship Id="rId8" Type="http://schemas.openxmlformats.org/officeDocument/2006/relationships/image" Target="../media/image2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28.png"/><Relationship Id="rId5" Type="http://schemas.openxmlformats.org/officeDocument/2006/relationships/image" Target="../media/image3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3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43.png"/><Relationship Id="rId5" Type="http://schemas.openxmlformats.org/officeDocument/2006/relationships/image" Target="../media/image32.png"/><Relationship Id="rId6" Type="http://schemas.openxmlformats.org/officeDocument/2006/relationships/image" Target="../media/image31.png"/><Relationship Id="rId7" Type="http://schemas.openxmlformats.org/officeDocument/2006/relationships/image" Target="../media/image45.png"/></Relationships>
</file>

<file path=ppt/slides/_rels/slide12.xml.rels><?xml version="1.0" encoding="UTF-8" standalone="yes"?><Relationships xmlns="http://schemas.openxmlformats.org/package/2006/relationships"><Relationship Id="rId11" Type="http://schemas.openxmlformats.org/officeDocument/2006/relationships/image" Target="../media/image40.png"/><Relationship Id="rId10" Type="http://schemas.openxmlformats.org/officeDocument/2006/relationships/image" Target="../media/image3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37.png"/><Relationship Id="rId9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34.png"/><Relationship Id="rId7" Type="http://schemas.openxmlformats.org/officeDocument/2006/relationships/image" Target="../media/image16.png"/><Relationship Id="rId8" Type="http://schemas.openxmlformats.org/officeDocument/2006/relationships/image" Target="../media/image3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41.png"/><Relationship Id="rId6" Type="http://schemas.openxmlformats.org/officeDocument/2006/relationships/image" Target="../media/image44.png"/><Relationship Id="rId7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 amt="70000"/>
          </a:blip>
          <a:srcRect b="0" l="0" r="0" t="0"/>
          <a:stretch/>
        </p:blipFill>
        <p:spPr>
          <a:xfrm rot="10800000">
            <a:off x="15550" y="58000"/>
            <a:ext cx="11624625" cy="6226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7975" y="2028219"/>
            <a:ext cx="347605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3263100" y="2672818"/>
            <a:ext cx="56658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Alpha Defence Pvt Ltd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3017850" y="3498163"/>
            <a:ext cx="6156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Operational And Financial Analysis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3127650" y="4545475"/>
            <a:ext cx="59367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Strategic Financials • Supply Chain Dynamics • Risk</a:t>
            </a:r>
            <a:r>
              <a:rPr lang="en-US" sz="1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n-US" sz="15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Architecture</a:t>
            </a:r>
            <a:endParaRPr sz="1500">
              <a:solidFill>
                <a:schemeClr val="lt1"/>
              </a:solidFill>
            </a:endParaRPr>
          </a:p>
        </p:txBody>
      </p:sp>
      <p:sp>
        <p:nvSpPr>
          <p:cNvPr id="90" name="Google Shape;90;p13"/>
          <p:cNvSpPr/>
          <p:nvPr/>
        </p:nvSpPr>
        <p:spPr>
          <a:xfrm>
            <a:off x="4977000" y="4131775"/>
            <a:ext cx="2238000" cy="573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5" name="Google Shape;9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" y="2569076"/>
            <a:ext cx="2638425" cy="1661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62325" y="2569076"/>
            <a:ext cx="2638425" cy="1661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" name="Google Shape;98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91250" y="2569076"/>
            <a:ext cx="2638425" cy="1661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020175" y="2569076"/>
            <a:ext cx="2638425" cy="166155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533400" y="457200"/>
            <a:ext cx="11658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Executive Summary &amp; Key Metrics</a:t>
            </a:r>
            <a:endParaRPr/>
          </a:p>
        </p:txBody>
      </p:sp>
      <p:sp>
        <p:nvSpPr>
          <p:cNvPr id="101" name="Google Shape;101;p14"/>
          <p:cNvSpPr/>
          <p:nvPr/>
        </p:nvSpPr>
        <p:spPr>
          <a:xfrm>
            <a:off x="533400" y="914400"/>
            <a:ext cx="56388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733463" y="2835776"/>
            <a:ext cx="2238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$19.44B</a:t>
            </a:r>
            <a:endParaRPr sz="3200"/>
          </a:p>
        </p:txBody>
      </p:sp>
      <p:sp>
        <p:nvSpPr>
          <p:cNvPr id="103" name="Google Shape;103;p14"/>
          <p:cNvSpPr txBox="1"/>
          <p:nvPr/>
        </p:nvSpPr>
        <p:spPr>
          <a:xfrm>
            <a:off x="733463" y="3444049"/>
            <a:ext cx="22383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TOTAL REVENUE</a:t>
            </a:r>
            <a:endParaRPr b="1" sz="1300">
              <a:solidFill>
                <a:srgbClr val="4F46E5"/>
              </a:solidFill>
            </a:endParaRPr>
          </a:p>
        </p:txBody>
      </p:sp>
      <p:sp>
        <p:nvSpPr>
          <p:cNvPr id="104" name="Google Shape;104;p14"/>
          <p:cNvSpPr txBox="1"/>
          <p:nvPr/>
        </p:nvSpPr>
        <p:spPr>
          <a:xfrm>
            <a:off x="733463" y="3728940"/>
            <a:ext cx="22383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Global Operations Footprint</a:t>
            </a:r>
            <a:endParaRPr sz="1300">
              <a:solidFill>
                <a:srgbClr val="2563EB"/>
              </a:solidFill>
            </a:endParaRPr>
          </a:p>
        </p:txBody>
      </p:sp>
      <p:sp>
        <p:nvSpPr>
          <p:cNvPr id="105" name="Google Shape;105;p14"/>
          <p:cNvSpPr txBox="1"/>
          <p:nvPr/>
        </p:nvSpPr>
        <p:spPr>
          <a:xfrm>
            <a:off x="3562388" y="2835771"/>
            <a:ext cx="2238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$6.36B</a:t>
            </a:r>
            <a:endParaRPr sz="3200"/>
          </a:p>
        </p:txBody>
      </p:sp>
      <p:sp>
        <p:nvSpPr>
          <p:cNvPr id="106" name="Google Shape;106;p14"/>
          <p:cNvSpPr txBox="1"/>
          <p:nvPr/>
        </p:nvSpPr>
        <p:spPr>
          <a:xfrm>
            <a:off x="3562388" y="3444057"/>
            <a:ext cx="22383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GROSS MARGIN</a:t>
            </a:r>
            <a:endParaRPr b="1" sz="1300">
              <a:solidFill>
                <a:srgbClr val="4F46E5"/>
              </a:solidFill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3562388" y="3728957"/>
            <a:ext cx="22383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32.70% Corporate Margin</a:t>
            </a:r>
            <a:endParaRPr sz="1300">
              <a:solidFill>
                <a:srgbClr val="4F46E5"/>
              </a:solidFill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6391313" y="2835771"/>
            <a:ext cx="2238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94 / 100</a:t>
            </a:r>
            <a:endParaRPr sz="3200"/>
          </a:p>
        </p:txBody>
      </p:sp>
      <p:sp>
        <p:nvSpPr>
          <p:cNvPr id="109" name="Google Shape;109;p14"/>
          <p:cNvSpPr txBox="1"/>
          <p:nvPr/>
        </p:nvSpPr>
        <p:spPr>
          <a:xfrm>
            <a:off x="6391313" y="3444057"/>
            <a:ext cx="22383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QUALITY SCORE</a:t>
            </a:r>
            <a:endParaRPr b="1" sz="1300">
              <a:solidFill>
                <a:srgbClr val="4F46E5"/>
              </a:solidFill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6391313" y="3728957"/>
            <a:ext cx="22383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Stable Quality Control Index</a:t>
            </a:r>
            <a:endParaRPr sz="1300">
              <a:solidFill>
                <a:srgbClr val="4F46E5"/>
              </a:solidFill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9220238" y="2835771"/>
            <a:ext cx="2238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53.90%</a:t>
            </a:r>
            <a:endParaRPr sz="3200"/>
          </a:p>
        </p:txBody>
      </p:sp>
      <p:sp>
        <p:nvSpPr>
          <p:cNvPr id="112" name="Google Shape;112;p14"/>
          <p:cNvSpPr txBox="1"/>
          <p:nvPr/>
        </p:nvSpPr>
        <p:spPr>
          <a:xfrm>
            <a:off x="9220238" y="3444057"/>
            <a:ext cx="22383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ON-TIME DELIVERY</a:t>
            </a:r>
            <a:endParaRPr b="1" sz="1300">
              <a:solidFill>
                <a:srgbClr val="4F46E5"/>
              </a:solidFill>
            </a:endParaRPr>
          </a:p>
        </p:txBody>
      </p:sp>
      <p:sp>
        <p:nvSpPr>
          <p:cNvPr id="113" name="Google Shape;113;p14"/>
          <p:cNvSpPr txBox="1"/>
          <p:nvPr/>
        </p:nvSpPr>
        <p:spPr>
          <a:xfrm>
            <a:off x="9220238" y="3728957"/>
            <a:ext cx="22383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Critical Delivery Bottleneck</a:t>
            </a:r>
            <a:endParaRPr sz="1300">
              <a:solidFill>
                <a:srgbClr val="4F46E5"/>
              </a:solidFill>
            </a:endParaRPr>
          </a:p>
        </p:txBody>
      </p:sp>
      <p:pic>
        <p:nvPicPr>
          <p:cNvPr descr="image.png" id="114" name="Google Shape;114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33400" y="4755590"/>
            <a:ext cx="11125200" cy="79135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4"/>
          <p:cNvSpPr txBox="1"/>
          <p:nvPr/>
        </p:nvSpPr>
        <p:spPr>
          <a:xfrm>
            <a:off x="762000" y="4907992"/>
            <a:ext cx="10706100" cy="5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9550" spcFirstLastPara="1" rIns="0" wrap="square" tIns="0">
            <a:spAutoFit/>
          </a:bodyPr>
          <a:lstStyle/>
          <a:p>
            <a:pPr indent="0" lvl="0" marL="0" marR="0" rtl="0" algn="l">
              <a:lnSpc>
                <a:spcPct val="15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Key Operational Finding:</a:t>
            </a:r>
            <a:r>
              <a:rPr b="0" i="0" lang="en-US" sz="1300" u="none" cap="none" strike="noStrike">
                <a:solidFill>
                  <a:srgbClr val="2563EB"/>
                </a:solidFill>
                <a:latin typeface="Inter Medium"/>
                <a:ea typeface="Inter Medium"/>
                <a:cs typeface="Inter Medium"/>
                <a:sym typeface="Inter Medium"/>
              </a:rPr>
              <a:t> While financial scale ($19.44B) and quality standards (94/100 score) remain exceptionally strong, schedule compliance presents an operational bottleneck with nearly 46% of fulfillments experiencing schedule disruptions.</a:t>
            </a:r>
            <a:endParaRPr sz="1300">
              <a:solidFill>
                <a:srgbClr val="2563EB"/>
              </a:solidFill>
            </a:endParaRPr>
          </a:p>
        </p:txBody>
      </p:sp>
      <p:pic>
        <p:nvPicPr>
          <p:cNvPr descr="image.png" id="116" name="Google Shape;116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62000" y="4932929"/>
            <a:ext cx="133350" cy="13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1" name="Google Shape;12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6925" y="1874450"/>
            <a:ext cx="5831275" cy="3211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5"/>
          <p:cNvSpPr txBox="1"/>
          <p:nvPr/>
        </p:nvSpPr>
        <p:spPr>
          <a:xfrm>
            <a:off x="533400" y="457200"/>
            <a:ext cx="11658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Division Financial Breakdown</a:t>
            </a:r>
            <a:endParaRPr/>
          </a:p>
        </p:txBody>
      </p:sp>
      <p:sp>
        <p:nvSpPr>
          <p:cNvPr id="124" name="Google Shape;124;p15"/>
          <p:cNvSpPr/>
          <p:nvPr/>
        </p:nvSpPr>
        <p:spPr>
          <a:xfrm>
            <a:off x="533400" y="914400"/>
            <a:ext cx="634365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6557877" y="1861275"/>
            <a:ext cx="5265300" cy="9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Cyber Security Lead: 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Dominates total portfolio contract</a:t>
            </a:r>
            <a:endParaRPr sz="15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49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value at $4.72B, generating $1.55B in gross margin (32.8% yield).</a:t>
            </a:r>
            <a:endParaRPr sz="1500"/>
          </a:p>
        </p:txBody>
      </p:sp>
      <p:sp>
        <p:nvSpPr>
          <p:cNvPr id="126" name="Google Shape;126;p15"/>
          <p:cNvSpPr txBox="1"/>
          <p:nvPr/>
        </p:nvSpPr>
        <p:spPr>
          <a:xfrm>
            <a:off x="6557876" y="2965450"/>
            <a:ext cx="5265300" cy="9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Air &amp; Space Segments: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Tactical Avionics ($3.92B revenue / $1.31B margin) and Aerospace Systems </a:t>
            </a:r>
            <a:b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($3.95B revenue / $1.29B margin) deliver high stability.</a:t>
            </a:r>
            <a:endParaRPr sz="1500"/>
          </a:p>
        </p:txBody>
      </p:sp>
      <p:sp>
        <p:nvSpPr>
          <p:cNvPr id="127" name="Google Shape;127;p15"/>
          <p:cNvSpPr txBox="1"/>
          <p:nvPr/>
        </p:nvSpPr>
        <p:spPr>
          <a:xfrm>
            <a:off x="6557876" y="4065925"/>
            <a:ext cx="5265300" cy="9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Naval &amp; Land Divisions: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Naval Technology achieves $3.67B revenue ($1.21B margin), while Land Defense represents $3.18B revenue ($1.00B margin).</a:t>
            </a:r>
            <a:endParaRPr sz="1500"/>
          </a:p>
        </p:txBody>
      </p:sp>
      <p:pic>
        <p:nvPicPr>
          <p:cNvPr descr="image.png" id="128" name="Google Shape;128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9138" y="1880336"/>
            <a:ext cx="155134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9138" y="2984515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9138" y="4084986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5"/>
          <p:cNvSpPr/>
          <p:nvPr/>
        </p:nvSpPr>
        <p:spPr>
          <a:xfrm rot="5400000">
            <a:off x="3596023" y="3822650"/>
            <a:ext cx="5107500" cy="2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6" name="Google Shape;13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6"/>
          <p:cNvSpPr txBox="1"/>
          <p:nvPr/>
        </p:nvSpPr>
        <p:spPr>
          <a:xfrm>
            <a:off x="533400" y="457200"/>
            <a:ext cx="11658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Platform Cross-Selling Revenue</a:t>
            </a:r>
            <a:endParaRPr/>
          </a:p>
        </p:txBody>
      </p:sp>
      <p:sp>
        <p:nvSpPr>
          <p:cNvPr id="138" name="Google Shape;138;p16"/>
          <p:cNvSpPr/>
          <p:nvPr/>
        </p:nvSpPr>
        <p:spPr>
          <a:xfrm>
            <a:off x="533400" y="914400"/>
            <a:ext cx="59817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39" name="Google Shape;139;p16"/>
          <p:cNvGraphicFramePr/>
          <p:nvPr/>
        </p:nvGraphicFramePr>
        <p:xfrm>
          <a:off x="463200" y="174646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{9FA36752-12F2-40DC-B54D-BED91D88F106}</a:tableStyleId>
              </a:tblPr>
              <a:tblGrid>
                <a:gridCol w="2024400"/>
                <a:gridCol w="2236825"/>
                <a:gridCol w="2266775"/>
                <a:gridCol w="2405475"/>
                <a:gridCol w="2332125"/>
              </a:tblGrid>
              <a:tr h="660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Enterprise Division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Ground Tactical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Airborne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Digital Command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Maritime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89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Cyber Security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$1.26B ($0.43B margin)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$1.20B ($0.38B margin)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$1.19B ($0.40B margin)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$1.07B ($0.34B margin)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6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Tactical Avionics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$0.83B ($0.29B margin)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$1.21B ($0.41B margin)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$0.96B ($0.31B margin)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$0.92B ($0.30B margin)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576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Aerospace Systems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$0.99B ($0.33B margin)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$1.11B ($0.33B margin)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$0.80B ($0.26B margin)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$1.04B ($0.36B margin)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6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Naval Technology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$0.99B ($0.33B margin)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$0.76B ($0.25B margin)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$0.82B ($0.27B margin)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$1.10B ($0.35B margin)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576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Land Defense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$1.09B ($0.36B margin)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$0.69B ($0.20B margin)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$0.63B ($0.21B margin)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$0.77B ($0.23B margin)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4" name="Google Shape;14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7"/>
          <p:cNvPicPr preferRelativeResize="0"/>
          <p:nvPr/>
        </p:nvPicPr>
        <p:blipFill rotWithShape="1">
          <a:blip r:embed="rId4">
            <a:alphaModFix amt="70000"/>
          </a:blip>
          <a:srcRect b="0" l="0" r="0" t="0"/>
          <a:stretch/>
        </p:blipFill>
        <p:spPr>
          <a:xfrm rot="10800000">
            <a:off x="15549" y="58000"/>
            <a:ext cx="10494100" cy="5620575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7"/>
          <p:cNvSpPr/>
          <p:nvPr/>
        </p:nvSpPr>
        <p:spPr>
          <a:xfrm>
            <a:off x="4977000" y="3736881"/>
            <a:ext cx="2238000" cy="573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47" name="Google Shape;147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510213" y="2224087"/>
            <a:ext cx="1171575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7"/>
          <p:cNvSpPr txBox="1"/>
          <p:nvPr/>
        </p:nvSpPr>
        <p:spPr>
          <a:xfrm>
            <a:off x="2610600" y="2738437"/>
            <a:ext cx="69708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Delivery Efficiency &amp; Logistics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2101050" y="4043350"/>
            <a:ext cx="7989900" cy="5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Analyzing Contract Lead Times, Schedule Slippages, and International Clearance Constraints</a:t>
            </a:r>
            <a:endParaRPr sz="1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4" name="Google Shape;15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3163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8"/>
          <p:cNvSpPr txBox="1"/>
          <p:nvPr/>
        </p:nvSpPr>
        <p:spPr>
          <a:xfrm>
            <a:off x="800100" y="4755150"/>
            <a:ext cx="5372100" cy="8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Naval &amp; Aerospace:</a:t>
            </a:r>
            <a:r>
              <a:rPr b="0" i="0" lang="en-US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Aerospace Digital Command experiences 38.91 days delay; Naval Airborne exhibits the lowest delay at 23.09 days.</a:t>
            </a:r>
            <a:endParaRPr/>
          </a:p>
        </p:txBody>
      </p:sp>
      <p:pic>
        <p:nvPicPr>
          <p:cNvPr descr="image.png" id="156" name="Google Shape;156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" y="4774209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1981200"/>
            <a:ext cx="537210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8"/>
          <p:cNvSpPr txBox="1"/>
          <p:nvPr/>
        </p:nvSpPr>
        <p:spPr>
          <a:xfrm>
            <a:off x="533400" y="457200"/>
            <a:ext cx="11658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Lead Time &amp; Schedule Slippage</a:t>
            </a:r>
            <a:endParaRPr/>
          </a:p>
        </p:txBody>
      </p:sp>
      <p:sp>
        <p:nvSpPr>
          <p:cNvPr id="159" name="Google Shape;159;p18"/>
          <p:cNvSpPr/>
          <p:nvPr/>
        </p:nvSpPr>
        <p:spPr>
          <a:xfrm>
            <a:off x="533400" y="914400"/>
            <a:ext cx="60198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8"/>
          <p:cNvSpPr txBox="1"/>
          <p:nvPr/>
        </p:nvSpPr>
        <p:spPr>
          <a:xfrm>
            <a:off x="533400" y="1684467"/>
            <a:ext cx="5640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Operational Dynamics</a:t>
            </a:r>
            <a:endParaRPr b="1" sz="1500"/>
          </a:p>
        </p:txBody>
      </p:sp>
      <p:sp>
        <p:nvSpPr>
          <p:cNvPr id="161" name="Google Shape;161;p18"/>
          <p:cNvSpPr txBox="1"/>
          <p:nvPr/>
        </p:nvSpPr>
        <p:spPr>
          <a:xfrm>
            <a:off x="533400" y="2039225"/>
            <a:ext cx="5753100" cy="8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The enterprise records an average delivery lead time of </a:t>
            </a:r>
            <a:r>
              <a:rPr b="1" i="0" lang="en-US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114.3 days</a:t>
            </a:r>
            <a:r>
              <a:rPr b="0" i="0" lang="en-US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across all contracts, with average schedule slippage of </a:t>
            </a:r>
            <a:r>
              <a:rPr b="1" i="0" lang="en-US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7.3 days</a:t>
            </a:r>
            <a:r>
              <a:rPr b="0" i="0" lang="en-US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past agreed targets.</a:t>
            </a:r>
            <a:endParaRPr/>
          </a:p>
        </p:txBody>
      </p:sp>
      <p:sp>
        <p:nvSpPr>
          <p:cNvPr id="162" name="Google Shape;162;p18"/>
          <p:cNvSpPr txBox="1"/>
          <p:nvPr/>
        </p:nvSpPr>
        <p:spPr>
          <a:xfrm>
            <a:off x="800100" y="3062950"/>
            <a:ext cx="5372100" cy="8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Highest Delays (Land Defense):</a:t>
            </a:r>
            <a:r>
              <a:rPr b="0" i="0" lang="en-US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Ground Tactical platforms lead schedule delays at 42.25 days, followed by Digital Command at 40.00 days.</a:t>
            </a:r>
            <a:endParaRPr/>
          </a:p>
        </p:txBody>
      </p:sp>
      <p:sp>
        <p:nvSpPr>
          <p:cNvPr id="163" name="Google Shape;163;p18"/>
          <p:cNvSpPr txBox="1"/>
          <p:nvPr/>
        </p:nvSpPr>
        <p:spPr>
          <a:xfrm>
            <a:off x="800100" y="4073600"/>
            <a:ext cx="5372100" cy="5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Tactical Avionics Lag:</a:t>
            </a:r>
            <a:r>
              <a:rPr b="0" i="0" lang="en-US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Ground Tactical delays average 38.92 days; Digital Command averages 33.94 days.</a:t>
            </a:r>
            <a:endParaRPr/>
          </a:p>
        </p:txBody>
      </p:sp>
      <p:pic>
        <p:nvPicPr>
          <p:cNvPr descr="image.png" id="164" name="Google Shape;164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10274" y="1981200"/>
            <a:ext cx="5372100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" y="3081995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" y="4092642"/>
            <a:ext cx="152400" cy="1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1" name="Google Shape;17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2" name="Google Shape;17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" y="2386012"/>
            <a:ext cx="11125200" cy="2809875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9"/>
          <p:cNvSpPr txBox="1"/>
          <p:nvPr/>
        </p:nvSpPr>
        <p:spPr>
          <a:xfrm>
            <a:off x="533400" y="457200"/>
            <a:ext cx="11658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Security Clearance Impact</a:t>
            </a:r>
            <a:endParaRPr/>
          </a:p>
        </p:txBody>
      </p:sp>
      <p:sp>
        <p:nvSpPr>
          <p:cNvPr id="174" name="Google Shape;174;p19"/>
          <p:cNvSpPr/>
          <p:nvPr/>
        </p:nvSpPr>
        <p:spPr>
          <a:xfrm>
            <a:off x="533400" y="914400"/>
            <a:ext cx="675322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75" name="Google Shape;175;p19"/>
          <p:cNvGraphicFramePr/>
          <p:nvPr/>
        </p:nvGraphicFramePr>
        <p:xfrm>
          <a:off x="365238" y="160573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{9FA36752-12F2-40DC-B54D-BED91D88F106}</a:tableStyleId>
              </a:tblPr>
              <a:tblGrid>
                <a:gridCol w="1519000"/>
                <a:gridCol w="2028150"/>
                <a:gridCol w="2483950"/>
                <a:gridCol w="5425650"/>
              </a:tblGrid>
              <a:tr h="1016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Clearance Level</a:t>
                      </a:r>
                      <a:endParaRPr sz="1500"/>
                    </a:p>
                  </a:txBody>
                  <a:tcPr marT="25400" marB="25400" marR="63500" marL="635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Fastest Fulfillments (Lead Time)</a:t>
                      </a:r>
                      <a:endParaRPr sz="1500"/>
                    </a:p>
                  </a:txBody>
                  <a:tcPr marT="25400" marB="25400" marR="63500" marL="635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Extended Fulfillments (Lead Time)</a:t>
                      </a:r>
                      <a:endParaRPr sz="1500"/>
                    </a:p>
                  </a:txBody>
                  <a:tcPr marT="25400" marB="25400" marR="63500" marL="635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Primary Logistics Factors</a:t>
                      </a:r>
                      <a:endParaRPr sz="1500"/>
                    </a:p>
                  </a:txBody>
                  <a:tcPr marT="25400" marB="25400" marR="63500" marL="635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67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Level 1</a:t>
                      </a:r>
                      <a:br>
                        <a:rPr b="1" lang="en-US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</a:br>
                      <a:r>
                        <a:rPr b="1" i="0" lang="en-US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(Standard)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Poland (93.1 days)</a:t>
                      </a:r>
                      <a:br>
                        <a:rPr lang="en-US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</a:br>
                      <a:r>
                        <a:rPr b="0" i="0" lang="en-US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Australia (95.4 days)</a:t>
                      </a:r>
                      <a:br>
                        <a:rPr lang="en-US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</a:br>
                      <a:r>
                        <a:rPr b="0" i="0" lang="en-US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Japan (97.5 days)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South Korea (135.4 days)</a:t>
                      </a:r>
                      <a:br>
                        <a:rPr lang="en-US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</a:br>
                      <a:r>
                        <a:rPr b="0" i="0" lang="en-US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Brazil (134.6 days)</a:t>
                      </a:r>
                      <a:br>
                        <a:rPr lang="en-US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</a:br>
                      <a:r>
                        <a:rPr b="0" i="0" lang="en-US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UAE (127.0 days)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Port con</a:t>
                      </a:r>
                      <a:r>
                        <a:rPr lang="en-US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gestion and customs processing speed in South America &amp; Middle East.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15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Level 2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(Restricted)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Qatar (78.4 days)</a:t>
                      </a:r>
                      <a:br>
                        <a:rPr lang="en-US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</a:br>
                      <a:r>
                        <a:rPr b="0" i="0" lang="en-US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South Korea (89.7 days)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France (125.9 days)</a:t>
                      </a:r>
                      <a:br>
                        <a:rPr lang="en-US"/>
                      </a:br>
                      <a:r>
                        <a:rPr b="0" i="0" lang="en-US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Brazil (125.1 days)</a:t>
                      </a:r>
                      <a:br>
                        <a:rPr lang="en-US"/>
                      </a:br>
                      <a:r>
                        <a:rPr b="0" i="0" lang="en-US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Saudi Arabia (122.4 days)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Bilateral defense export compliance c</a:t>
                      </a:r>
                      <a:r>
                        <a:rPr b="0" i="0" lang="en-US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</a:t>
                      </a:r>
                      <a:r>
                        <a:rPr b="0" i="0" lang="en-US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ecks and tech transfer documentation.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1015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Level 3</a:t>
                      </a:r>
                      <a:r>
                        <a:rPr b="1" lang="en-US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br>
                        <a:rPr b="1" lang="en-US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</a:br>
                      <a:r>
                        <a:rPr b="1" i="0" lang="en-US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(Top Secret)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UK (97.8 days)</a:t>
                      </a:r>
                      <a:br>
                        <a:rPr lang="en-US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</a:br>
                      <a:r>
                        <a:rPr b="0" i="0" lang="en-US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India (98.6 days)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South Korea (140.9 days)</a:t>
                      </a:r>
                      <a:br>
                        <a:rPr lang="en-US"/>
                      </a:br>
                      <a:r>
                        <a:rPr b="0" i="0" lang="en-US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Poland (137.5 days)</a:t>
                      </a:r>
                      <a:br>
                        <a:rPr lang="en-US"/>
                      </a:br>
                      <a:r>
                        <a:rPr b="0" i="0" lang="en-US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Germany (137.0 days)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Extensive multi-agency audit protocols &amp; sovereign security drag.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0" name="Google Shape;18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1" name="Google Shape;181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" y="1795450"/>
            <a:ext cx="2609850" cy="28313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2" name="Google Shape;182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71850" y="1795452"/>
            <a:ext cx="2609850" cy="28313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3" name="Google Shape;183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10300" y="1795452"/>
            <a:ext cx="2609850" cy="28313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4" name="Google Shape;184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048750" y="1795452"/>
            <a:ext cx="2609850" cy="2831323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0"/>
          <p:cNvSpPr txBox="1"/>
          <p:nvPr/>
        </p:nvSpPr>
        <p:spPr>
          <a:xfrm>
            <a:off x="533400" y="457200"/>
            <a:ext cx="11658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Platform Order Fulfillment Status</a:t>
            </a:r>
            <a:endParaRPr/>
          </a:p>
        </p:txBody>
      </p:sp>
      <p:sp>
        <p:nvSpPr>
          <p:cNvPr id="186" name="Google Shape;186;p20"/>
          <p:cNvSpPr/>
          <p:nvPr/>
        </p:nvSpPr>
        <p:spPr>
          <a:xfrm>
            <a:off x="533400" y="914400"/>
            <a:ext cx="581977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87" name="Google Shape;187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71525" y="1992240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0"/>
          <p:cNvSpPr txBox="1"/>
          <p:nvPr/>
        </p:nvSpPr>
        <p:spPr>
          <a:xfrm>
            <a:off x="771525" y="2484761"/>
            <a:ext cx="1650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Ground Tactical</a:t>
            </a:r>
            <a:endParaRPr b="1" sz="1500"/>
          </a:p>
        </p:txBody>
      </p:sp>
      <p:sp>
        <p:nvSpPr>
          <p:cNvPr id="189" name="Google Shape;189;p20"/>
          <p:cNvSpPr txBox="1"/>
          <p:nvPr/>
        </p:nvSpPr>
        <p:spPr>
          <a:xfrm>
            <a:off x="771525" y="2858485"/>
            <a:ext cx="1828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268 Total Orders</a:t>
            </a:r>
            <a:endParaRPr/>
          </a:p>
        </p:txBody>
      </p:sp>
      <p:pic>
        <p:nvPicPr>
          <p:cNvPr descr="image.png" id="190" name="Google Shape;190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609975" y="1992240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0"/>
          <p:cNvSpPr txBox="1"/>
          <p:nvPr/>
        </p:nvSpPr>
        <p:spPr>
          <a:xfrm>
            <a:off x="3609975" y="2484761"/>
            <a:ext cx="880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Airborne</a:t>
            </a:r>
            <a:endParaRPr b="1" sz="1500"/>
          </a:p>
        </p:txBody>
      </p:sp>
      <p:sp>
        <p:nvSpPr>
          <p:cNvPr id="192" name="Google Shape;192;p20"/>
          <p:cNvSpPr txBox="1"/>
          <p:nvPr/>
        </p:nvSpPr>
        <p:spPr>
          <a:xfrm>
            <a:off x="3609975" y="2858485"/>
            <a:ext cx="1828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249 Total Orders</a:t>
            </a:r>
            <a:endParaRPr/>
          </a:p>
        </p:txBody>
      </p:sp>
      <p:pic>
        <p:nvPicPr>
          <p:cNvPr descr="image.png" id="193" name="Google Shape;193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48425" y="1992240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0"/>
          <p:cNvSpPr txBox="1"/>
          <p:nvPr/>
        </p:nvSpPr>
        <p:spPr>
          <a:xfrm>
            <a:off x="6448425" y="2484761"/>
            <a:ext cx="1830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Digital Command</a:t>
            </a:r>
            <a:endParaRPr b="1" sz="1500"/>
          </a:p>
        </p:txBody>
      </p:sp>
      <p:sp>
        <p:nvSpPr>
          <p:cNvPr id="195" name="Google Shape;195;p20"/>
          <p:cNvSpPr txBox="1"/>
          <p:nvPr/>
        </p:nvSpPr>
        <p:spPr>
          <a:xfrm>
            <a:off x="6448425" y="2858485"/>
            <a:ext cx="1828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239 Total Orders</a:t>
            </a:r>
            <a:endParaRPr/>
          </a:p>
        </p:txBody>
      </p:sp>
      <p:pic>
        <p:nvPicPr>
          <p:cNvPr descr="image.png" id="196" name="Google Shape;196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286875" y="1992240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0"/>
          <p:cNvSpPr txBox="1"/>
          <p:nvPr/>
        </p:nvSpPr>
        <p:spPr>
          <a:xfrm>
            <a:off x="9286875" y="2484761"/>
            <a:ext cx="9201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Maritime</a:t>
            </a:r>
            <a:endParaRPr b="1" sz="1500"/>
          </a:p>
        </p:txBody>
      </p:sp>
      <p:sp>
        <p:nvSpPr>
          <p:cNvPr id="198" name="Google Shape;198;p20"/>
          <p:cNvSpPr txBox="1"/>
          <p:nvPr/>
        </p:nvSpPr>
        <p:spPr>
          <a:xfrm>
            <a:off x="9286875" y="2858485"/>
            <a:ext cx="1828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244 Total Orders</a:t>
            </a:r>
            <a:endParaRPr/>
          </a:p>
        </p:txBody>
      </p:sp>
      <p:pic>
        <p:nvPicPr>
          <p:cNvPr descr="image.png" id="199" name="Google Shape;199;p2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62012" y="2106540"/>
            <a:ext cx="23812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0"/>
          <p:cNvSpPr txBox="1"/>
          <p:nvPr/>
        </p:nvSpPr>
        <p:spPr>
          <a:xfrm>
            <a:off x="771525" y="3256292"/>
            <a:ext cx="2286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42875" spcFirstLastPara="1" rIns="0" wrap="square" tIns="0">
            <a:spAutoFit/>
          </a:bodyPr>
          <a:lstStyle/>
          <a:p>
            <a:pPr indent="0" lvl="0" marL="0" marR="0" rtl="0" algn="l">
              <a:lnSpc>
                <a:spcPct val="1549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16A34A"/>
                </a:solidFill>
                <a:latin typeface="Inter"/>
                <a:ea typeface="Inter"/>
                <a:cs typeface="Inter"/>
                <a:sym typeface="Inter"/>
              </a:rPr>
              <a:t>On Time: 145 (14.5%)</a:t>
            </a:r>
            <a:endParaRPr/>
          </a:p>
        </p:txBody>
      </p:sp>
      <p:sp>
        <p:nvSpPr>
          <p:cNvPr id="201" name="Google Shape;201;p20"/>
          <p:cNvSpPr txBox="1"/>
          <p:nvPr/>
        </p:nvSpPr>
        <p:spPr>
          <a:xfrm>
            <a:off x="771525" y="3515838"/>
            <a:ext cx="2286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42875" spcFirstLastPara="1" rIns="0" wrap="square" tIns="0">
            <a:spAutoFit/>
          </a:bodyPr>
          <a:lstStyle/>
          <a:p>
            <a:pPr indent="0" lvl="0" marL="0" marR="0" rtl="0" algn="l">
              <a:lnSpc>
                <a:spcPct val="1549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rPr>
              <a:t>Delayed: 62 (6.2%)</a:t>
            </a:r>
            <a:endParaRPr/>
          </a:p>
        </p:txBody>
      </p:sp>
      <p:sp>
        <p:nvSpPr>
          <p:cNvPr id="202" name="Google Shape;202;p20"/>
          <p:cNvSpPr txBox="1"/>
          <p:nvPr/>
        </p:nvSpPr>
        <p:spPr>
          <a:xfrm>
            <a:off x="771525" y="3803487"/>
            <a:ext cx="2286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975" spcFirstLastPara="1" rIns="0" wrap="square" tIns="0">
            <a:spAutoFit/>
          </a:bodyPr>
          <a:lstStyle/>
          <a:p>
            <a:pPr indent="0" lvl="0" marL="0" marR="0" rtl="0" algn="l">
              <a:lnSpc>
                <a:spcPct val="1549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In Production: 41 (4.1%)</a:t>
            </a:r>
            <a:endParaRPr/>
          </a:p>
        </p:txBody>
      </p:sp>
      <p:sp>
        <p:nvSpPr>
          <p:cNvPr id="203" name="Google Shape;203;p20"/>
          <p:cNvSpPr txBox="1"/>
          <p:nvPr/>
        </p:nvSpPr>
        <p:spPr>
          <a:xfrm>
            <a:off x="771525" y="4077089"/>
            <a:ext cx="2286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42875" spcFirstLastPara="1" rIns="0" wrap="square" tIns="0">
            <a:spAutoFit/>
          </a:bodyPr>
          <a:lstStyle/>
          <a:p>
            <a:pPr indent="0" lvl="0" marL="0" marR="0" rtl="0" algn="l">
              <a:lnSpc>
                <a:spcPct val="1549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D97706"/>
                </a:solidFill>
                <a:latin typeface="Inter"/>
                <a:ea typeface="Inter"/>
                <a:cs typeface="Inter"/>
                <a:sym typeface="Inter"/>
              </a:rPr>
              <a:t>Testing: 20 (2.0%)</a:t>
            </a:r>
            <a:endParaRPr/>
          </a:p>
        </p:txBody>
      </p:sp>
      <p:pic>
        <p:nvPicPr>
          <p:cNvPr descr="image.png" id="204" name="Google Shape;204;p2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709987" y="2106540"/>
            <a:ext cx="2190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0"/>
          <p:cNvSpPr txBox="1"/>
          <p:nvPr/>
        </p:nvSpPr>
        <p:spPr>
          <a:xfrm>
            <a:off x="3609975" y="3256282"/>
            <a:ext cx="2286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42875" spcFirstLastPara="1" rIns="0" wrap="square" tIns="0">
            <a:spAutoFit/>
          </a:bodyPr>
          <a:lstStyle/>
          <a:p>
            <a:pPr indent="0" lvl="0" marL="0" marR="0" rtl="0" algn="l">
              <a:lnSpc>
                <a:spcPct val="1549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16A34A"/>
                </a:solidFill>
                <a:latin typeface="Inter"/>
                <a:ea typeface="Inter"/>
                <a:cs typeface="Inter"/>
                <a:sym typeface="Inter"/>
              </a:rPr>
              <a:t>On Time: 141 (14.1%)</a:t>
            </a:r>
            <a:endParaRPr/>
          </a:p>
        </p:txBody>
      </p:sp>
      <p:sp>
        <p:nvSpPr>
          <p:cNvPr id="206" name="Google Shape;206;p20"/>
          <p:cNvSpPr txBox="1"/>
          <p:nvPr/>
        </p:nvSpPr>
        <p:spPr>
          <a:xfrm>
            <a:off x="3609975" y="3515838"/>
            <a:ext cx="2286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42875" spcFirstLastPara="1" rIns="0" wrap="square" tIns="0">
            <a:spAutoFit/>
          </a:bodyPr>
          <a:lstStyle/>
          <a:p>
            <a:pPr indent="0" lvl="0" marL="0" marR="0" rtl="0" algn="l">
              <a:lnSpc>
                <a:spcPct val="1549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rPr>
              <a:t>Delayed: 60 (6.0%)</a:t>
            </a:r>
            <a:endParaRPr/>
          </a:p>
        </p:txBody>
      </p:sp>
      <p:sp>
        <p:nvSpPr>
          <p:cNvPr id="207" name="Google Shape;207;p20"/>
          <p:cNvSpPr txBox="1"/>
          <p:nvPr/>
        </p:nvSpPr>
        <p:spPr>
          <a:xfrm>
            <a:off x="3609975" y="3803487"/>
            <a:ext cx="2286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975" spcFirstLastPara="1" rIns="0" wrap="square" tIns="0">
            <a:spAutoFit/>
          </a:bodyPr>
          <a:lstStyle/>
          <a:p>
            <a:pPr indent="0" lvl="0" marL="0" marR="0" rtl="0" algn="l">
              <a:lnSpc>
                <a:spcPct val="1549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In Production: 31 (3.1%)</a:t>
            </a:r>
            <a:endParaRPr/>
          </a:p>
        </p:txBody>
      </p:sp>
      <p:sp>
        <p:nvSpPr>
          <p:cNvPr id="208" name="Google Shape;208;p20"/>
          <p:cNvSpPr txBox="1"/>
          <p:nvPr/>
        </p:nvSpPr>
        <p:spPr>
          <a:xfrm>
            <a:off x="3609975" y="4077089"/>
            <a:ext cx="2286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42875" spcFirstLastPara="1" rIns="0" wrap="square" tIns="0">
            <a:spAutoFit/>
          </a:bodyPr>
          <a:lstStyle/>
          <a:p>
            <a:pPr indent="0" lvl="0" marL="0" marR="0" rtl="0" algn="l">
              <a:lnSpc>
                <a:spcPct val="1549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D97706"/>
                </a:solidFill>
                <a:latin typeface="Inter"/>
                <a:ea typeface="Inter"/>
                <a:cs typeface="Inter"/>
                <a:sym typeface="Inter"/>
              </a:rPr>
              <a:t>Testing: 17 (1.7%)</a:t>
            </a:r>
            <a:endParaRPr/>
          </a:p>
        </p:txBody>
      </p:sp>
      <p:pic>
        <p:nvPicPr>
          <p:cNvPr descr="image.png" id="209" name="Google Shape;209;p2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538912" y="2106540"/>
            <a:ext cx="23812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0"/>
          <p:cNvSpPr txBox="1"/>
          <p:nvPr/>
        </p:nvSpPr>
        <p:spPr>
          <a:xfrm>
            <a:off x="6448425" y="3256282"/>
            <a:ext cx="2286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42875" spcFirstLastPara="1" rIns="0" wrap="square" tIns="0">
            <a:spAutoFit/>
          </a:bodyPr>
          <a:lstStyle/>
          <a:p>
            <a:pPr indent="0" lvl="0" marL="0" marR="0" rtl="0" algn="l">
              <a:lnSpc>
                <a:spcPct val="1549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16A34A"/>
                </a:solidFill>
                <a:latin typeface="Inter"/>
                <a:ea typeface="Inter"/>
                <a:cs typeface="Inter"/>
                <a:sym typeface="Inter"/>
              </a:rPr>
              <a:t>On Time: 128 (12.8%)</a:t>
            </a:r>
            <a:endParaRPr/>
          </a:p>
        </p:txBody>
      </p:sp>
      <p:sp>
        <p:nvSpPr>
          <p:cNvPr id="211" name="Google Shape;211;p20"/>
          <p:cNvSpPr txBox="1"/>
          <p:nvPr/>
        </p:nvSpPr>
        <p:spPr>
          <a:xfrm>
            <a:off x="6448425" y="3515838"/>
            <a:ext cx="2286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42875" spcFirstLastPara="1" rIns="0" wrap="square" tIns="0">
            <a:spAutoFit/>
          </a:bodyPr>
          <a:lstStyle/>
          <a:p>
            <a:pPr indent="0" lvl="0" marL="0" marR="0" rtl="0" algn="l">
              <a:lnSpc>
                <a:spcPct val="1549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rPr>
              <a:t>Delayed: 72 (7.2%)</a:t>
            </a:r>
            <a:endParaRPr/>
          </a:p>
        </p:txBody>
      </p:sp>
      <p:sp>
        <p:nvSpPr>
          <p:cNvPr id="212" name="Google Shape;212;p20"/>
          <p:cNvSpPr txBox="1"/>
          <p:nvPr/>
        </p:nvSpPr>
        <p:spPr>
          <a:xfrm>
            <a:off x="6448425" y="3803475"/>
            <a:ext cx="2286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975" spcFirstLastPara="1" rIns="0" wrap="square" tIns="0">
            <a:spAutoFit/>
          </a:bodyPr>
          <a:lstStyle/>
          <a:p>
            <a:pPr indent="0" lvl="0" marL="0" marR="0" rtl="0" algn="l">
              <a:lnSpc>
                <a:spcPct val="1549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In Production: 22 (2.2%)</a:t>
            </a:r>
            <a:endParaRPr/>
          </a:p>
        </p:txBody>
      </p:sp>
      <p:sp>
        <p:nvSpPr>
          <p:cNvPr id="213" name="Google Shape;213;p20"/>
          <p:cNvSpPr txBox="1"/>
          <p:nvPr/>
        </p:nvSpPr>
        <p:spPr>
          <a:xfrm>
            <a:off x="6448425" y="4077089"/>
            <a:ext cx="2286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42875" spcFirstLastPara="1" rIns="0" wrap="square" tIns="0">
            <a:spAutoFit/>
          </a:bodyPr>
          <a:lstStyle/>
          <a:p>
            <a:pPr indent="0" lvl="0" marL="0" marR="0" rtl="0" algn="l">
              <a:lnSpc>
                <a:spcPct val="1549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D97706"/>
                </a:solidFill>
                <a:latin typeface="Inter"/>
                <a:ea typeface="Inter"/>
                <a:cs typeface="Inter"/>
                <a:sym typeface="Inter"/>
              </a:rPr>
              <a:t>Testing: 17 (1.7%)</a:t>
            </a:r>
            <a:endParaRPr/>
          </a:p>
        </p:txBody>
      </p:sp>
      <p:pic>
        <p:nvPicPr>
          <p:cNvPr descr="image.png" id="214" name="Google Shape;214;p20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9386887" y="2106540"/>
            <a:ext cx="2190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0"/>
          <p:cNvSpPr txBox="1"/>
          <p:nvPr/>
        </p:nvSpPr>
        <p:spPr>
          <a:xfrm>
            <a:off x="9286875" y="3256282"/>
            <a:ext cx="2286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42875" spcFirstLastPara="1" rIns="0" wrap="square" tIns="0">
            <a:spAutoFit/>
          </a:bodyPr>
          <a:lstStyle/>
          <a:p>
            <a:pPr indent="0" lvl="0" marL="0" marR="0" rtl="0" algn="l">
              <a:lnSpc>
                <a:spcPct val="1549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16A34A"/>
                </a:solidFill>
                <a:latin typeface="Inter"/>
                <a:ea typeface="Inter"/>
                <a:cs typeface="Inter"/>
                <a:sym typeface="Inter"/>
              </a:rPr>
              <a:t>On Time: 125 (12.5%)</a:t>
            </a:r>
            <a:endParaRPr/>
          </a:p>
        </p:txBody>
      </p:sp>
      <p:sp>
        <p:nvSpPr>
          <p:cNvPr id="216" name="Google Shape;216;p20"/>
          <p:cNvSpPr txBox="1"/>
          <p:nvPr/>
        </p:nvSpPr>
        <p:spPr>
          <a:xfrm>
            <a:off x="9286875" y="3515838"/>
            <a:ext cx="2286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42875" spcFirstLastPara="1" rIns="0" wrap="square" tIns="0">
            <a:spAutoFit/>
          </a:bodyPr>
          <a:lstStyle/>
          <a:p>
            <a:pPr indent="0" lvl="0" marL="0" marR="0" rtl="0" algn="l">
              <a:lnSpc>
                <a:spcPct val="1549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rPr>
              <a:t>Delayed: 74 (7.4%)</a:t>
            </a:r>
            <a:endParaRPr/>
          </a:p>
        </p:txBody>
      </p:sp>
      <p:sp>
        <p:nvSpPr>
          <p:cNvPr id="217" name="Google Shape;217;p20"/>
          <p:cNvSpPr txBox="1"/>
          <p:nvPr/>
        </p:nvSpPr>
        <p:spPr>
          <a:xfrm>
            <a:off x="9286875" y="3803487"/>
            <a:ext cx="2286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975" spcFirstLastPara="1" rIns="0" wrap="square" tIns="0">
            <a:spAutoFit/>
          </a:bodyPr>
          <a:lstStyle/>
          <a:p>
            <a:pPr indent="0" lvl="0" marL="0" marR="0" rtl="0" algn="l">
              <a:lnSpc>
                <a:spcPct val="1549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In Production: 28 (2.8%)</a:t>
            </a:r>
            <a:endParaRPr/>
          </a:p>
        </p:txBody>
      </p:sp>
      <p:sp>
        <p:nvSpPr>
          <p:cNvPr id="218" name="Google Shape;218;p20"/>
          <p:cNvSpPr txBox="1"/>
          <p:nvPr/>
        </p:nvSpPr>
        <p:spPr>
          <a:xfrm>
            <a:off x="9286875" y="4077089"/>
            <a:ext cx="2286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42875" spcFirstLastPara="1" rIns="0" wrap="square" tIns="0">
            <a:spAutoFit/>
          </a:bodyPr>
          <a:lstStyle/>
          <a:p>
            <a:pPr indent="0" lvl="0" marL="0" marR="0" rtl="0" algn="l">
              <a:lnSpc>
                <a:spcPct val="1549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D97706"/>
                </a:solidFill>
                <a:latin typeface="Inter"/>
                <a:ea typeface="Inter"/>
                <a:cs typeface="Inter"/>
                <a:sym typeface="Inter"/>
              </a:rPr>
              <a:t>Testing: 17 (1.7%)</a:t>
            </a:r>
            <a:endParaRPr/>
          </a:p>
        </p:txBody>
      </p:sp>
      <p:pic>
        <p:nvPicPr>
          <p:cNvPr descr="image.png" id="219" name="Google Shape;219;p20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701295" y="3294382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0" name="Google Shape;220;p20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701295" y="3553938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1" name="Google Shape;221;p20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701295" y="3841587"/>
            <a:ext cx="1809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2" name="Google Shape;222;p20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701295" y="4115189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3" name="Google Shape;223;p20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3539745" y="3294382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4" name="Google Shape;224;p20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3539745" y="3553938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5" name="Google Shape;225;p20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3539745" y="3841587"/>
            <a:ext cx="1809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6" name="Google Shape;226;p20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3539745" y="4115189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7" name="Google Shape;227;p20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6378195" y="3294382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8" name="Google Shape;228;p20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6378195" y="3553938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9" name="Google Shape;229;p20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6378195" y="3841587"/>
            <a:ext cx="1809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0" name="Google Shape;230;p20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6378195" y="4115189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1" name="Google Shape;231;p20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9216645" y="3294382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2" name="Google Shape;232;p20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9216645" y="3553938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3" name="Google Shape;233;p20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9216645" y="3841587"/>
            <a:ext cx="1809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4" name="Google Shape;234;p20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9216645" y="4115189"/>
            <a:ext cx="142875" cy="14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9" name="Google Shape;23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0" name="Google Shape;240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" y="4526494"/>
            <a:ext cx="5372100" cy="717946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1"/>
          <p:cNvSpPr txBox="1"/>
          <p:nvPr/>
        </p:nvSpPr>
        <p:spPr>
          <a:xfrm>
            <a:off x="533400" y="457200"/>
            <a:ext cx="564070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Quality &amp; Cost Architecture</a:t>
            </a:r>
            <a:endParaRPr/>
          </a:p>
        </p:txBody>
      </p:sp>
      <p:pic>
        <p:nvPicPr>
          <p:cNvPr descr="image.png" id="242" name="Google Shape;242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49524"/>
            <a:ext cx="5905500" cy="678215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1"/>
          <p:cNvSpPr/>
          <p:nvPr/>
        </p:nvSpPr>
        <p:spPr>
          <a:xfrm>
            <a:off x="533400" y="914400"/>
            <a:ext cx="9144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1"/>
          <p:cNvSpPr txBox="1"/>
          <p:nvPr/>
        </p:nvSpPr>
        <p:spPr>
          <a:xfrm>
            <a:off x="533400" y="1679300"/>
            <a:ext cx="5640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Section 3: Risk Architecture</a:t>
            </a:r>
            <a:endParaRPr b="1" sz="1500"/>
          </a:p>
        </p:txBody>
      </p:sp>
      <p:sp>
        <p:nvSpPr>
          <p:cNvPr id="245" name="Google Shape;245;p21"/>
          <p:cNvSpPr txBox="1"/>
          <p:nvPr/>
        </p:nvSpPr>
        <p:spPr>
          <a:xfrm>
            <a:off x="533400" y="2093903"/>
            <a:ext cx="5372100" cy="8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The enterprise maintains a overall 67.3% Production Cost Ratio against a 32.7% Gross Margin across defense manufacturing assets.</a:t>
            </a:r>
            <a:endParaRPr/>
          </a:p>
        </p:txBody>
      </p:sp>
      <p:sp>
        <p:nvSpPr>
          <p:cNvPr id="246" name="Google Shape;246;p21"/>
          <p:cNvSpPr txBox="1"/>
          <p:nvPr/>
        </p:nvSpPr>
        <p:spPr>
          <a:xfrm>
            <a:off x="533400" y="3102831"/>
            <a:ext cx="5372100" cy="8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High-value products such as the </a:t>
            </a:r>
            <a:r>
              <a:rPr b="0" i="1" lang="en-US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Threat Intelligence Node</a:t>
            </a:r>
            <a:r>
              <a:rPr b="0" i="0" lang="en-US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($1.24B cost / $0.61B margin) and </a:t>
            </a:r>
            <a:r>
              <a:rPr b="0" i="1" lang="en-US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Tactical Data Link</a:t>
            </a:r>
            <a:r>
              <a:rPr b="0" i="0" lang="en-US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($1.11B cost / $0.54B margin) anchor the high-margin technology core.</a:t>
            </a:r>
            <a:endParaRPr/>
          </a:p>
        </p:txBody>
      </p:sp>
      <p:sp>
        <p:nvSpPr>
          <p:cNvPr id="247" name="Google Shape;247;p21"/>
          <p:cNvSpPr txBox="1"/>
          <p:nvPr/>
        </p:nvSpPr>
        <p:spPr>
          <a:xfrm>
            <a:off x="762000" y="4639405"/>
            <a:ext cx="4953000" cy="5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40AF"/>
                </a:solidFill>
                <a:latin typeface="Inter Medium"/>
                <a:ea typeface="Inter Medium"/>
                <a:cs typeface="Inter Medium"/>
                <a:sym typeface="Inter Medium"/>
              </a:rPr>
              <a:t>Quality scores range between 93.1 and 94.7 across product platforms, ensuring strong reliability despite cost pressures.</a:t>
            </a:r>
            <a:endParaRPr sz="13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2" name="Google Shape;25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3" name="Google Shape;253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" y="1181100"/>
            <a:ext cx="11223925" cy="521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2"/>
          <p:cNvSpPr txBox="1"/>
          <p:nvPr/>
        </p:nvSpPr>
        <p:spPr>
          <a:xfrm>
            <a:off x="533400" y="457200"/>
            <a:ext cx="11658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Equipment Production Cost vs Margin</a:t>
            </a:r>
            <a:endParaRPr/>
          </a:p>
        </p:txBody>
      </p:sp>
      <p:sp>
        <p:nvSpPr>
          <p:cNvPr id="255" name="Google Shape;255;p22"/>
          <p:cNvSpPr/>
          <p:nvPr/>
        </p:nvSpPr>
        <p:spPr>
          <a:xfrm>
            <a:off x="533400" y="914400"/>
            <a:ext cx="504825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0" name="Google Shape;26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12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1" name="Google Shape;261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" y="4728107"/>
            <a:ext cx="11125200" cy="72390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3"/>
          <p:cNvSpPr txBox="1"/>
          <p:nvPr/>
        </p:nvSpPr>
        <p:spPr>
          <a:xfrm>
            <a:off x="533400" y="457200"/>
            <a:ext cx="11658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Warranty Exposure &amp; Risk Matrix</a:t>
            </a:r>
            <a:endParaRPr/>
          </a:p>
        </p:txBody>
      </p:sp>
      <p:sp>
        <p:nvSpPr>
          <p:cNvPr id="263" name="Google Shape;263;p23"/>
          <p:cNvSpPr/>
          <p:nvPr/>
        </p:nvSpPr>
        <p:spPr>
          <a:xfrm>
            <a:off x="533400" y="914400"/>
            <a:ext cx="58674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64" name="Google Shape;264;p23"/>
          <p:cNvGraphicFramePr/>
          <p:nvPr/>
        </p:nvGraphicFramePr>
        <p:xfrm>
          <a:off x="250413" y="153155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{9FA36752-12F2-40DC-B54D-BED91D88F106}</a:tableStyleId>
              </a:tblPr>
              <a:tblGrid>
                <a:gridCol w="1345600"/>
                <a:gridCol w="2141375"/>
                <a:gridCol w="1195000"/>
                <a:gridCol w="1187475"/>
                <a:gridCol w="5821725"/>
              </a:tblGrid>
              <a:tr h="571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Risk Segment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Quality Score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Order Volume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Contract Value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Warranty Duration Revenue Exposure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0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&lt; 90.0 (88.9 - 89.1)</a:t>
                      </a:r>
                      <a:endParaRPr sz="13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0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162 </a:t>
                      </a:r>
                      <a:r>
                        <a:rPr b="1" i="0" lang="en-US" sz="130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Orders</a:t>
                      </a:r>
                      <a:endParaRPr b="1" sz="13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0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$3.42B</a:t>
                      </a:r>
                      <a:endParaRPr sz="13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0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$0.78B (12-mo) •</a:t>
                      </a:r>
                      <a:r>
                        <a:rPr b="1" i="0" lang="en-US" sz="130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b="1" i="0" lang="en-US" sz="130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$0.64B (24-mo) • $0.52B (36-mo) • $0.77B (60-mo)</a:t>
                      </a:r>
                      <a:endParaRPr b="1" sz="13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0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90.0 - 94.9 (92.4 - 92.8)</a:t>
                      </a:r>
                      <a:endParaRPr sz="13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0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445 Orders</a:t>
                      </a:r>
                      <a:endParaRPr b="1" sz="13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0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$8.46B</a:t>
                      </a:r>
                      <a:endParaRPr sz="13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0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$1.82B (12-mo) • $1.65B (24-mo) • $1.72B (36-mo) • $1.74B (60-mo)</a:t>
                      </a:r>
                      <a:endParaRPr b="1" sz="13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0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≥ 95.0 (97.4 - 97.7)</a:t>
                      </a:r>
                      <a:endParaRPr sz="13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0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393 Orders</a:t>
                      </a:r>
                      <a:endParaRPr b="1" sz="13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0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$7.47B</a:t>
                      </a:r>
                      <a:endParaRPr sz="13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0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$1.48B (12-mo) • $1.52B (24-mo) • $1.50B (36-mo) • $1.49B (60-mo)</a:t>
                      </a:r>
                      <a:endParaRPr b="1" sz="13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65" name="Google Shape;265;p23"/>
          <p:cNvSpPr txBox="1"/>
          <p:nvPr/>
        </p:nvSpPr>
        <p:spPr>
          <a:xfrm>
            <a:off x="762000" y="4880507"/>
            <a:ext cx="10706100" cy="5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rPr>
              <a:t>Risk Insight:</a:t>
            </a:r>
            <a:r>
              <a:rPr b="0" i="0" lang="en-US" sz="1300" u="none" cap="none" strike="noStrike">
                <a:solidFill>
                  <a:srgbClr val="1E40AF"/>
                </a:solidFill>
                <a:latin typeface="Inter Medium"/>
                <a:ea typeface="Inter Medium"/>
                <a:cs typeface="Inter Medium"/>
                <a:sym typeface="Inter Medium"/>
              </a:rPr>
              <a:t> 162 orders ($3.42B in contract value) fall in the High-Risk category (&lt;90 QC score), requiring prioritized quality audits to mitigate potential long-term warranty liability.</a:t>
            </a:r>
            <a:endParaRPr sz="1300"/>
          </a:p>
        </p:txBody>
      </p:sp>
      <p:pic>
        <p:nvPicPr>
          <p:cNvPr descr="image.png" id="266" name="Google Shape;266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4437" y="2208509"/>
            <a:ext cx="1000575" cy="369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7" name="Google Shape;267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24437" y="2788450"/>
            <a:ext cx="1121700" cy="36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8" name="Google Shape;268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24437" y="3344736"/>
            <a:ext cx="685800" cy="3657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3" name="Google Shape;27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4" name="Google Shape;274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" y="2058722"/>
            <a:ext cx="3555950" cy="2879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5" name="Google Shape;275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17950" y="2058722"/>
            <a:ext cx="3555950" cy="2879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6" name="Google Shape;276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02500" y="2058722"/>
            <a:ext cx="3555950" cy="2879975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24"/>
          <p:cNvSpPr txBox="1"/>
          <p:nvPr/>
        </p:nvSpPr>
        <p:spPr>
          <a:xfrm>
            <a:off x="533400" y="457200"/>
            <a:ext cx="11658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Strategic Action Recommendations</a:t>
            </a:r>
            <a:endParaRPr/>
          </a:p>
        </p:txBody>
      </p:sp>
      <p:sp>
        <p:nvSpPr>
          <p:cNvPr id="278" name="Google Shape;278;p24"/>
          <p:cNvSpPr/>
          <p:nvPr/>
        </p:nvSpPr>
        <p:spPr>
          <a:xfrm>
            <a:off x="533400" y="914400"/>
            <a:ext cx="535305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79" name="Google Shape;279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71525" y="2209991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4"/>
          <p:cNvSpPr txBox="1"/>
          <p:nvPr/>
        </p:nvSpPr>
        <p:spPr>
          <a:xfrm>
            <a:off x="771525" y="2768328"/>
            <a:ext cx="3200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1. Resolve Delays</a:t>
            </a:r>
            <a:endParaRPr b="1" sz="1600"/>
          </a:p>
        </p:txBody>
      </p:sp>
      <p:sp>
        <p:nvSpPr>
          <p:cNvPr id="281" name="Google Shape;281;p24"/>
          <p:cNvSpPr txBox="1"/>
          <p:nvPr/>
        </p:nvSpPr>
        <p:spPr>
          <a:xfrm>
            <a:off x="771525" y="3222420"/>
            <a:ext cx="3079800" cy="16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Establish dedicated operational task forces for Land Defense and Tactical Avionics Ground Tactical units to eliminate 38–42 day lead time variances.</a:t>
            </a:r>
            <a:endParaRPr sz="1500"/>
          </a:p>
        </p:txBody>
      </p:sp>
      <p:pic>
        <p:nvPicPr>
          <p:cNvPr descr="image.png" id="282" name="Google Shape;282;p2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556075" y="2209991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24"/>
          <p:cNvSpPr txBox="1"/>
          <p:nvPr/>
        </p:nvSpPr>
        <p:spPr>
          <a:xfrm>
            <a:off x="4556075" y="2768328"/>
            <a:ext cx="3200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2. Streamline Customs</a:t>
            </a:r>
            <a:endParaRPr b="1" sz="1600"/>
          </a:p>
        </p:txBody>
      </p:sp>
      <p:sp>
        <p:nvSpPr>
          <p:cNvPr id="284" name="Google Shape;284;p24"/>
          <p:cNvSpPr txBox="1"/>
          <p:nvPr/>
        </p:nvSpPr>
        <p:spPr>
          <a:xfrm>
            <a:off x="4556075" y="3222420"/>
            <a:ext cx="3079800" cy="16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Form pre-clearance green lanes for Level 3 Top Secret exports in high-drag destinations like South Korea (140.9d) and Poland (137.5d).</a:t>
            </a:r>
            <a:endParaRPr sz="1500"/>
          </a:p>
        </p:txBody>
      </p:sp>
      <p:pic>
        <p:nvPicPr>
          <p:cNvPr descr="image.png" id="285" name="Google Shape;285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340625" y="2209991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24"/>
          <p:cNvSpPr txBox="1"/>
          <p:nvPr/>
        </p:nvSpPr>
        <p:spPr>
          <a:xfrm>
            <a:off x="8340625" y="2768328"/>
            <a:ext cx="3200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3. Mitigate Warranty Risk</a:t>
            </a:r>
            <a:endParaRPr b="1" sz="1600"/>
          </a:p>
        </p:txBody>
      </p:sp>
      <p:sp>
        <p:nvSpPr>
          <p:cNvPr id="287" name="Google Shape;287;p24"/>
          <p:cNvSpPr txBox="1"/>
          <p:nvPr/>
        </p:nvSpPr>
        <p:spPr>
          <a:xfrm>
            <a:off x="8340625" y="3222426"/>
            <a:ext cx="3079800" cy="16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Implement targeted QA remediation for the 162 high-risk contracts ($3.42B) to reduce downstream warranty obligation claims.</a:t>
            </a:r>
            <a:endParaRPr sz="1500"/>
          </a:p>
        </p:txBody>
      </p:sp>
      <p:pic>
        <p:nvPicPr>
          <p:cNvPr descr="image.png" id="288" name="Google Shape;288;p2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85825" y="2324291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9" name="Google Shape;289;p2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679900" y="2324291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0" name="Google Shape;290;p2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454925" y="2324291"/>
            <a:ext cx="190500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5" name="Google Shape;29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6" name="Google Shape;296;p25"/>
          <p:cNvPicPr preferRelativeResize="0"/>
          <p:nvPr/>
        </p:nvPicPr>
        <p:blipFill rotWithShape="1">
          <a:blip r:embed="rId4">
            <a:alphaModFix amt="70000"/>
          </a:blip>
          <a:srcRect b="0" l="0" r="0" t="0"/>
          <a:stretch/>
        </p:blipFill>
        <p:spPr>
          <a:xfrm rot="10800000">
            <a:off x="15550" y="58000"/>
            <a:ext cx="11624625" cy="6226075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25"/>
          <p:cNvSpPr txBox="1"/>
          <p:nvPr/>
        </p:nvSpPr>
        <p:spPr>
          <a:xfrm>
            <a:off x="1686300" y="1053750"/>
            <a:ext cx="88194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9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Questions &amp; Executive Discussion</a:t>
            </a:r>
            <a:endParaRPr b="1" sz="39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98" name="Google Shape;298;p25"/>
          <p:cNvSpPr/>
          <p:nvPr/>
        </p:nvSpPr>
        <p:spPr>
          <a:xfrm>
            <a:off x="4977000" y="3142387"/>
            <a:ext cx="2238000" cy="573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99" name="Google Shape;299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88432" y="3824287"/>
            <a:ext cx="265176" cy="265176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5"/>
          <p:cNvSpPr txBox="1"/>
          <p:nvPr/>
        </p:nvSpPr>
        <p:spPr>
          <a:xfrm>
            <a:off x="2138589" y="3849175"/>
            <a:ext cx="2101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www.alphadefence.com</a:t>
            </a:r>
            <a:endParaRPr/>
          </a:p>
        </p:txBody>
      </p:sp>
      <p:pic>
        <p:nvPicPr>
          <p:cNvPr descr="image.png" id="301" name="Google Shape;301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464724" y="3824287"/>
            <a:ext cx="265176" cy="265176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25"/>
          <p:cNvSpPr txBox="1"/>
          <p:nvPr/>
        </p:nvSpPr>
        <p:spPr>
          <a:xfrm>
            <a:off x="4805600" y="3849175"/>
            <a:ext cx="2688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executive@alphadefence.com</a:t>
            </a:r>
            <a:endParaRPr/>
          </a:p>
        </p:txBody>
      </p:sp>
      <p:pic>
        <p:nvPicPr>
          <p:cNvPr descr="image.png" id="303" name="Google Shape;303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594490" y="3824287"/>
            <a:ext cx="265176" cy="265176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25"/>
          <p:cNvSpPr txBox="1"/>
          <p:nvPr/>
        </p:nvSpPr>
        <p:spPr>
          <a:xfrm>
            <a:off x="7925968" y="3849175"/>
            <a:ext cx="1833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Alpha Defence HQ</a:t>
            </a:r>
            <a:endParaRPr/>
          </a:p>
        </p:txBody>
      </p:sp>
      <p:sp>
        <p:nvSpPr>
          <p:cNvPr id="305" name="Google Shape;305;p25"/>
          <p:cNvSpPr txBox="1"/>
          <p:nvPr/>
        </p:nvSpPr>
        <p:spPr>
          <a:xfrm>
            <a:off x="4322250" y="1956450"/>
            <a:ext cx="3547500" cy="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35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Thank You</a:t>
            </a:r>
            <a:endParaRPr b="1" sz="39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